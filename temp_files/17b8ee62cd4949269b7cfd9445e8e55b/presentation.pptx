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PaperSynth - Research Summary</a:t>
            </a:r>
          </a:p>
        </p:txBody>
      </p:sp>
      <p:sp>
        <p:nvSpPr>
          <p:cNvPr id="3" name="Subtitle 2"/>
          <p:cNvSpPr>
            <a:spLocks noGrp="1"/>
          </p:cNvSpPr>
          <p:nvPr>
            <p:ph type="subTitle" idx="1"/>
          </p:nvPr>
        </p:nvSpPr>
        <p:spPr/>
        <p:txBody>
          <a:bodyPr/>
          <a:lstStyle/>
          <a:p>
            <a:r>
              <a:t>Generated Summary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a:t>
            </a:r>
          </a:p>
        </p:txBody>
      </p:sp>
      <p:sp>
        <p:nvSpPr>
          <p:cNvPr id="3" name="Content Placeholder 2"/>
          <p:cNvSpPr>
            <a:spLocks noGrp="1"/>
          </p:cNvSpPr>
          <p:nvPr>
            <p:ph idx="1"/>
          </p:nvPr>
        </p:nvSpPr>
        <p:spPr/>
        <p:txBody>
          <a:bodyPr/>
          <a:lstStyle/>
          <a:p/>
          <a:p>
            <a:pPr/>
            <a:r>
              <a:t>• Placement Categories: Companies are classified into two categories based on the annual salary offered: Category A (6 Lakhs LPA and above) and Category B (below 6 Lakhs LPA).</a:t>
            </a:r>
          </a:p>
          <a:p>
            <a:pPr/>
            <a:r>
              <a:t>• Offer Types: Three types of job offers are possible: Internship + Job (I+J), Job (J) only, and Internship (I) only.</a:t>
            </a:r>
          </a:p>
          <a:p>
            <a:pPr/>
            <a:r>
              <a:t>• Comprehensive Eligibility Criteria: Students must fulfill all criteria to be eligible for placement drives, covering diverse aspects. Key criteria include:</a:t>
            </a:r>
          </a:p>
          <a:p>
            <a:pPr/>
            <a:r>
              <a:t>• CGPA: A minimum CGPA of 7/10 is generally required, though this can vary by company. A minimum of 60% aggregate throughout academics is mandatory.</a:t>
            </a:r>
          </a:p>
          <a:p>
            <a:pPr/>
            <a:r>
              <a:t>• Certifications/Apprenticeships/Achievements: At least two certifications are mandatory. Relevant certifications include AWS, CEH, CISCO, Google certifications, Sixsigma, and Project Management certifications (NPTEL/Coursera certifications are also considered).</a:t>
            </a:r>
          </a:p>
          <a:p>
            <a:pPr/>
            <a:r>
              <a:t>• Coding Platform Performance: A coding platform score above a specific threshold (on HackerRank, CodeChef, LeetCode, etc.) is necessary. Consistent participation throughout academics on these platforms is crucial.</a:t>
            </a:r>
          </a:p>
          <a:p>
            <a:pPr/>
            <a:r>
              <a:t>• GitHub Portfolio: All projects developed during previous semesters must be uploaded to GitHub.</a:t>
            </a:r>
          </a:p>
          <a:p>
            <a:pPr/>
            <a:r>
              <a:t>• Blogging: Candidates must create a blog and publish domainspecific content/articles.</a:t>
            </a:r>
          </a:p>
          <a:p>
            <a:pPr/>
            <a:r>
              <a:t>• Aptitude Session Attendance: Mandatory attendance at all aptitude sessions organized by the department in the 6th semester.</a:t>
            </a:r>
          </a:p>
          <a:p>
            <a:pPr/>
            <a:r>
              <a:t>• LinkedIn Endorsement: Endorsement from the internship provider is required on LinkedIn.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p>
            <a:pPr/>
            <a:r>
              <a:t>• Content not explicitly separated in the original summary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Conclusions</a:t>
            </a:r>
          </a:p>
        </p:txBody>
      </p:sp>
      <p:sp>
        <p:nvSpPr>
          <p:cNvPr id="3" name="Content Placeholder 2"/>
          <p:cNvSpPr>
            <a:spLocks noGrp="1"/>
          </p:cNvSpPr>
          <p:nvPr>
            <p:ph idx="1"/>
          </p:nvPr>
        </p:nvSpPr>
        <p:spPr/>
        <p:txBody>
          <a:bodyPr/>
          <a:lstStyle/>
          <a:p/>
          <a:p>
            <a:pPr/>
            <a:r>
              <a:t>• Content not explicitly separated in the original summary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Implications</a:t>
            </a:r>
          </a:p>
        </p:txBody>
      </p:sp>
      <p:sp>
        <p:nvSpPr>
          <p:cNvPr id="3" name="Content Placeholder 2"/>
          <p:cNvSpPr>
            <a:spLocks noGrp="1"/>
          </p:cNvSpPr>
          <p:nvPr>
            <p:ph idx="1"/>
          </p:nvPr>
        </p:nvSpPr>
        <p:spPr/>
        <p:txBody>
          <a:bodyPr/>
          <a:lstStyle/>
          <a:p/>
          <a:p>
            <a:pPr/>
            <a:r>
              <a:t>• Increased Student Focus: The explicit criteria provide a clear roadmap for students to focus their efforts on skill development and academic performance.</a:t>
            </a:r>
          </a:p>
          <a:p>
            <a:pPr/>
            <a:r>
              <a:t>• Improved Placement Readiness: By adhering to these guidelines, students are expected to be better prepared for placement interviews and technical assessments.</a:t>
            </a:r>
          </a:p>
          <a:p>
            <a:pPr/>
            <a:r>
              <a:t>• Enhanced Industry Alignment: The criteria aim to bridge the gap between academic learning and industry requirements, leading to improved employability.</a:t>
            </a:r>
          </a:p>
          <a:p>
            <a:pPr/>
            <a:r>
              <a:t>• Competitive Advantage: The document suggests that students who meet these requirements will have a competitive advantage during placement drives.</a:t>
            </a:r>
          </a:p>
          <a:p>
            <a:pPr/>
            <a:r>
              <a:t>• Increased Department Reputation: Successfully enforcing these criteria could lead to improved placement statistics, enhancing the department's reputation and attracting more students and recruiters.</a:t>
            </a:r>
          </a:p>
          <a:p>
            <a:pPr/>
            <a:r>
              <a:t>• Potential Challenges: Enforcing strict criteria may pose challenges if students struggle to meet all requirements. The department needs to provide adequate support and resources (e.g., training programs, workshops) to help students meet the standards. Furthermore, the specific threshold values (CGPA, coding scores) should be flexible and reasonable, reflecting the diverse abilities of students.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